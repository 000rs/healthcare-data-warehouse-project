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B624C-5D35-FE4A-A7EC-0331B2EB9521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00C42-3D3C-3B4D-8697-1D5051DA5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3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00C42-3D3C-3B4D-8697-1D5051DA5D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5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00C42-3D3C-3B4D-8697-1D5051DA5D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7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80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1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3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5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6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0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6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5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2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6/2/26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5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BED6D2EA-FE56-5250-C8BF-ECA2BDCA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94" b="773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F7C2A816-955C-4079-AAAB-066EBD44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55828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alpha val="0"/>
                </a:schemeClr>
              </a:gs>
              <a:gs pos="58000">
                <a:srgbClr val="0E0D12">
                  <a:alpha val="58000"/>
                </a:srgbClr>
              </a:gs>
              <a:gs pos="93000">
                <a:srgbClr val="000000">
                  <a:alpha val="58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3918F-CE66-2FD2-3FE1-91FB98B9A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1728" y="914400"/>
            <a:ext cx="5770251" cy="3427867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DATA</a:t>
            </a:r>
            <a:br>
              <a:rPr lang="en-US" sz="5600" dirty="0">
                <a:solidFill>
                  <a:srgbClr val="FFFFFF"/>
                </a:solidFill>
              </a:rPr>
            </a:br>
            <a:r>
              <a:rPr lang="en-US" sz="5600" dirty="0">
                <a:solidFill>
                  <a:srgbClr val="FFFFFF"/>
                </a:solidFill>
              </a:rPr>
              <a:t>WAREHOUSING</a:t>
            </a:r>
            <a:br>
              <a:rPr lang="en-US" sz="5600" dirty="0">
                <a:solidFill>
                  <a:srgbClr val="FFFFFF"/>
                </a:solidFill>
              </a:rPr>
            </a:br>
            <a:r>
              <a:rPr lang="en-US" sz="5600" dirty="0">
                <a:solidFill>
                  <a:srgbClr val="FFFFFF"/>
                </a:solidFill>
              </a:rPr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13383-E5DF-FAEE-801D-70BDF243B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1727" y="5037937"/>
            <a:ext cx="4892949" cy="1028038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Prepared by – Rehaan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Submitted to – Maryam Erfanian</a:t>
            </a:r>
          </a:p>
        </p:txBody>
      </p:sp>
    </p:spTree>
    <p:extLst>
      <p:ext uri="{BB962C8B-B14F-4D97-AF65-F5344CB8AC3E}">
        <p14:creationId xmlns:p14="http://schemas.microsoft.com/office/powerpoint/2010/main" val="306160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304B-B945-607E-AA3C-BD9CD243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B5551-F9BE-3B73-09B0-5128B2EC3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Project Objectives</a:t>
            </a:r>
          </a:p>
          <a:p>
            <a:r>
              <a:rPr lang="en-US" dirty="0"/>
              <a:t>Design a Hospital OLTP database </a:t>
            </a:r>
          </a:p>
          <a:p>
            <a:r>
              <a:rPr lang="en-US" dirty="0"/>
              <a:t>Create an OLAP Star Schema </a:t>
            </a:r>
          </a:p>
          <a:p>
            <a:r>
              <a:rPr lang="en-US" dirty="0"/>
              <a:t>Implement ETL processes </a:t>
            </a:r>
          </a:p>
          <a:p>
            <a:r>
              <a:rPr lang="en-US" dirty="0"/>
              <a:t>Apply Data Quality rules </a:t>
            </a:r>
          </a:p>
          <a:p>
            <a:r>
              <a:rPr lang="en-US" dirty="0"/>
              <a:t>Validate warehouse data </a:t>
            </a:r>
          </a:p>
          <a:p>
            <a:pPr marL="0" indent="0">
              <a:buNone/>
            </a:pPr>
            <a:r>
              <a:rPr lang="en-US" b="1" dirty="0"/>
              <a:t>Outcomes</a:t>
            </a:r>
          </a:p>
          <a:p>
            <a:r>
              <a:rPr lang="en-US" dirty="0"/>
              <a:t>OLTP Database </a:t>
            </a:r>
          </a:p>
          <a:p>
            <a:r>
              <a:rPr lang="en-US" dirty="0"/>
              <a:t>OLAP Star Schema </a:t>
            </a:r>
          </a:p>
          <a:p>
            <a:r>
              <a:rPr lang="en-US" dirty="0"/>
              <a:t>ETL Implementation </a:t>
            </a:r>
          </a:p>
          <a:p>
            <a:r>
              <a:rPr lang="en-US" dirty="0"/>
              <a:t>Data Quality Management </a:t>
            </a:r>
          </a:p>
          <a:p>
            <a:r>
              <a:rPr lang="en-US" dirty="0"/>
              <a:t>Validation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47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B869131-809F-4714-9B05-385CAF00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22B620-4164-2FF7-75F8-0347734CFA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94360" y="0"/>
            <a:ext cx="66985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19DA4-D247-8562-345F-4435C6E4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39" y="596644"/>
            <a:ext cx="3748361" cy="2798746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OLTP DATABASE </a:t>
            </a:r>
            <a:r>
              <a:rPr lang="en-US" dirty="0"/>
              <a:t>DES</a:t>
            </a:r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BDF3B-FCDF-8147-DE73-1DE46AD5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57839" y="3564412"/>
            <a:ext cx="3748361" cy="26969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000"/>
              <a:t>OLTP stands for Online Transaction Processing.</a:t>
            </a:r>
          </a:p>
          <a:p>
            <a:pPr>
              <a:lnSpc>
                <a:spcPct val="100000"/>
              </a:lnSpc>
            </a:pPr>
            <a:r>
              <a:rPr lang="en-US" sz="1000"/>
              <a:t>Purpose: Store daily hospital transactions.</a:t>
            </a:r>
          </a:p>
          <a:p>
            <a:pPr>
              <a:lnSpc>
                <a:spcPct val="100000"/>
              </a:lnSpc>
            </a:pPr>
            <a:r>
              <a:rPr lang="en-US" sz="1000"/>
              <a:t> It stores operational hospital data used in day-to-day activities. We designed eight related tables with primary and foreign key relationships</a:t>
            </a:r>
          </a:p>
          <a:p>
            <a:pPr>
              <a:lnSpc>
                <a:spcPct val="100000"/>
              </a:lnSpc>
            </a:pPr>
            <a:r>
              <a:rPr lang="en-US" sz="1000"/>
              <a:t>Tables:</a:t>
            </a:r>
            <a:br>
              <a:rPr lang="en-US" sz="1000"/>
            </a:br>
            <a:r>
              <a:rPr lang="en-US" sz="1000"/>
              <a:t>• Department</a:t>
            </a:r>
            <a:br>
              <a:rPr lang="en-US" sz="1000"/>
            </a:br>
            <a:r>
              <a:rPr lang="en-US" sz="1000"/>
              <a:t>• Doctor</a:t>
            </a:r>
            <a:br>
              <a:rPr lang="en-US" sz="1000"/>
            </a:br>
            <a:r>
              <a:rPr lang="en-US" sz="1000"/>
              <a:t>• Patient</a:t>
            </a:r>
            <a:br>
              <a:rPr lang="en-US" sz="1000"/>
            </a:br>
            <a:r>
              <a:rPr lang="en-US" sz="1000"/>
              <a:t>• Room</a:t>
            </a:r>
            <a:br>
              <a:rPr lang="en-US" sz="1000"/>
            </a:br>
            <a:r>
              <a:rPr lang="en-US" sz="1000"/>
              <a:t>• Appointment</a:t>
            </a:r>
            <a:br>
              <a:rPr lang="en-US" sz="1000"/>
            </a:br>
            <a:r>
              <a:rPr lang="en-US" sz="1000"/>
              <a:t>• Admission</a:t>
            </a:r>
            <a:br>
              <a:rPr lang="en-US" sz="1000"/>
            </a:br>
            <a:r>
              <a:rPr lang="en-US" sz="1000"/>
              <a:t>• Treatment</a:t>
            </a:r>
            <a:br>
              <a:rPr lang="en-US" sz="1000"/>
            </a:br>
            <a:r>
              <a:rPr lang="en-US" sz="1000"/>
              <a:t>• Bill</a:t>
            </a:r>
          </a:p>
        </p:txBody>
      </p:sp>
    </p:spTree>
    <p:extLst>
      <p:ext uri="{BB962C8B-B14F-4D97-AF65-F5344CB8AC3E}">
        <p14:creationId xmlns:p14="http://schemas.microsoft.com/office/powerpoint/2010/main" val="135506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869131-809F-4714-9B05-385CAF00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959D-65D8-BDC2-2B9A-8F079F58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39" y="0"/>
            <a:ext cx="3748361" cy="256257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OLAP STAR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24E9D-D332-FD0C-EFAC-77D087F43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57839" y="2562577"/>
            <a:ext cx="3748361" cy="409371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200" dirty="0"/>
              <a:t>OLAP stands for Online Analytical Processing. 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Purpose: Support reporting and analytics.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We created a star schema where </a:t>
            </a:r>
            <a:r>
              <a:rPr lang="en-US" sz="1200" dirty="0" err="1"/>
              <a:t>FactAdmission</a:t>
            </a:r>
            <a:r>
              <a:rPr lang="en-US" sz="1200" dirty="0"/>
              <a:t> is the central fact table and the dimension tables provide descriptive information.</a:t>
            </a:r>
          </a:p>
          <a:p>
            <a:r>
              <a:rPr lang="en-US" sz="1200" dirty="0"/>
              <a:t>Fact Table:</a:t>
            </a:r>
            <a:br>
              <a:rPr lang="en-US" sz="1200" dirty="0"/>
            </a:br>
            <a:r>
              <a:rPr lang="en-US" sz="1200" dirty="0"/>
              <a:t>• </a:t>
            </a:r>
            <a:r>
              <a:rPr lang="en-US" sz="1200" dirty="0" err="1"/>
              <a:t>FactAdmission</a:t>
            </a:r>
            <a:r>
              <a:rPr lang="en-US" sz="1200" dirty="0"/>
              <a:t> </a:t>
            </a:r>
          </a:p>
          <a:p>
            <a:r>
              <a:rPr lang="en-US" sz="1200" dirty="0"/>
              <a:t>Measures – </a:t>
            </a:r>
            <a:r>
              <a:rPr lang="en-US" sz="1200" dirty="0" err="1"/>
              <a:t>TreatmentCount</a:t>
            </a:r>
            <a:r>
              <a:rPr lang="en-US" sz="1200" dirty="0"/>
              <a:t>, </a:t>
            </a:r>
            <a:r>
              <a:rPr lang="en-US" sz="1200" dirty="0" err="1"/>
              <a:t>TreatmentCost</a:t>
            </a:r>
            <a:r>
              <a:rPr lang="en-US" sz="1200" dirty="0"/>
              <a:t>, </a:t>
            </a:r>
            <a:r>
              <a:rPr lang="en-US" sz="1200" dirty="0" err="1"/>
              <a:t>BillAmount</a:t>
            </a:r>
            <a:r>
              <a:rPr lang="en-US" sz="1200" dirty="0"/>
              <a:t>, </a:t>
            </a:r>
            <a:r>
              <a:rPr lang="en-US" sz="1200" dirty="0" err="1"/>
              <a:t>LengthOfStay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Dimension Tables:</a:t>
            </a:r>
            <a:br>
              <a:rPr lang="en-US" sz="1200" dirty="0"/>
            </a:br>
            <a:r>
              <a:rPr lang="en-US" sz="1200" dirty="0"/>
              <a:t>• </a:t>
            </a:r>
            <a:r>
              <a:rPr lang="en-US" sz="1200" dirty="0" err="1"/>
              <a:t>DimPatient</a:t>
            </a:r>
            <a:br>
              <a:rPr lang="en-US" sz="1200" dirty="0"/>
            </a:br>
            <a:r>
              <a:rPr lang="en-US" sz="1200" dirty="0"/>
              <a:t>• </a:t>
            </a:r>
            <a:r>
              <a:rPr lang="en-US" sz="1200" dirty="0" err="1"/>
              <a:t>DimDoctor</a:t>
            </a:r>
            <a:br>
              <a:rPr lang="en-US" sz="1200" dirty="0"/>
            </a:br>
            <a:r>
              <a:rPr lang="en-US" sz="1200" dirty="0"/>
              <a:t>• </a:t>
            </a:r>
            <a:r>
              <a:rPr lang="en-US" sz="1200" dirty="0" err="1"/>
              <a:t>DimDepartment</a:t>
            </a:r>
            <a:br>
              <a:rPr lang="en-US" sz="1200" dirty="0"/>
            </a:br>
            <a:r>
              <a:rPr lang="en-US" sz="1200" dirty="0"/>
              <a:t>• </a:t>
            </a:r>
            <a:r>
              <a:rPr lang="en-US" sz="1200" dirty="0" err="1"/>
              <a:t>DimRoom</a:t>
            </a:r>
            <a:br>
              <a:rPr lang="en-US" sz="1200" dirty="0"/>
            </a:br>
            <a:r>
              <a:rPr lang="en-US" sz="1200" dirty="0"/>
              <a:t>• </a:t>
            </a:r>
            <a:r>
              <a:rPr lang="en-US" sz="1200" dirty="0" err="1"/>
              <a:t>DimDate</a:t>
            </a:r>
            <a:endParaRPr lang="en-US" sz="1200" dirty="0"/>
          </a:p>
          <a:p>
            <a:pPr marL="0" indent="0">
              <a:buNone/>
            </a:pPr>
            <a:endParaRPr lang="en-US" sz="1000" b="1" dirty="0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98864D-5287-0993-61AC-7B4CD2DC6F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1023" y="161366"/>
            <a:ext cx="7636816" cy="6494928"/>
          </a:xfrm>
        </p:spPr>
      </p:pic>
    </p:spTree>
    <p:extLst>
      <p:ext uri="{BB962C8B-B14F-4D97-AF65-F5344CB8AC3E}">
        <p14:creationId xmlns:p14="http://schemas.microsoft.com/office/powerpoint/2010/main" val="118683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DA96-5097-767C-34DB-728A0A36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ETL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37B10-9985-3258-4EE1-B76351535B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OLTP Database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Data Quality Rules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Dimension Tables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Fact Table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Reporting &amp; Analysis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4B07D-388E-37F7-7A3D-B2707BF6EB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Techniques Used:</a:t>
            </a:r>
            <a:br>
              <a:rPr lang="en-US" dirty="0"/>
            </a:br>
            <a:r>
              <a:rPr lang="en-US" dirty="0"/>
              <a:t>• MERGE</a:t>
            </a:r>
            <a:br>
              <a:rPr lang="en-US" dirty="0"/>
            </a:br>
            <a:r>
              <a:rPr lang="en-US" dirty="0"/>
              <a:t>• Data Transformation</a:t>
            </a:r>
            <a:br>
              <a:rPr lang="en-US" dirty="0"/>
            </a:br>
            <a:r>
              <a:rPr lang="en-US" dirty="0"/>
              <a:t>• Data Cleaning</a:t>
            </a:r>
          </a:p>
          <a:p>
            <a:r>
              <a:rPr lang="en-US" dirty="0"/>
              <a:t>ETL stands for Extract, Transform, and Load. Data was extracted from the OLTP database, transformed using data quality rules, and loaded into dimension tables and Fact tables</a:t>
            </a:r>
          </a:p>
        </p:txBody>
      </p:sp>
    </p:spTree>
    <p:extLst>
      <p:ext uri="{BB962C8B-B14F-4D97-AF65-F5344CB8AC3E}">
        <p14:creationId xmlns:p14="http://schemas.microsoft.com/office/powerpoint/2010/main" val="586045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4D01-4F6A-EB16-E9DE-78C4ACE9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QUALITY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DC0AC-37E4-8126-5B57-FBE974355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3413" y="3267634"/>
            <a:ext cx="11618257" cy="29093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implemented five data quality rules. Two rules reject invalid data, two rules automatically fix inconsistent data, and one rule allows missing but acceptable data.</a:t>
            </a:r>
          </a:p>
          <a:p>
            <a:r>
              <a:rPr lang="en-US" dirty="0"/>
              <a:t>Rule 1 </a:t>
            </a:r>
            <a:endParaRPr lang="en-US" b="1" u="sng" dirty="0"/>
          </a:p>
          <a:p>
            <a:r>
              <a:rPr lang="en-US" dirty="0"/>
              <a:t>Rule 2 </a:t>
            </a:r>
            <a:endParaRPr lang="en-US" b="1" u="sng" dirty="0"/>
          </a:p>
          <a:p>
            <a:r>
              <a:rPr lang="en-US" dirty="0"/>
              <a:t>Rule 3 </a:t>
            </a:r>
            <a:endParaRPr lang="en-US" b="1" u="sng" dirty="0"/>
          </a:p>
          <a:p>
            <a:r>
              <a:rPr lang="en-US" dirty="0"/>
              <a:t>Rule 4 </a:t>
            </a:r>
            <a:endParaRPr lang="en-US" b="1" u="sng" dirty="0"/>
          </a:p>
          <a:p>
            <a:r>
              <a:rPr lang="en-US" dirty="0"/>
              <a:t>Rule 5 </a:t>
            </a:r>
            <a:endParaRPr lang="en-US" b="1" u="sng" dirty="0"/>
          </a:p>
          <a:p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B724D7-5A7C-C949-5A0C-C1FE844D43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3413" y="1690688"/>
            <a:ext cx="11618258" cy="1576946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259411-340D-4D2E-C2B4-CA380D442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22927"/>
              </p:ext>
            </p:extLst>
          </p:nvPr>
        </p:nvGraphicFramePr>
        <p:xfrm>
          <a:off x="1651002" y="3930178"/>
          <a:ext cx="7617176" cy="2120665"/>
        </p:xfrm>
        <a:graphic>
          <a:graphicData uri="http://schemas.openxmlformats.org/drawingml/2006/table">
            <a:tbl>
              <a:tblPr/>
              <a:tblGrid>
                <a:gridCol w="3808588">
                  <a:extLst>
                    <a:ext uri="{9D8B030D-6E8A-4147-A177-3AD203B41FA5}">
                      <a16:colId xmlns:a16="http://schemas.microsoft.com/office/drawing/2014/main" val="2429491137"/>
                    </a:ext>
                  </a:extLst>
                </a:gridCol>
                <a:gridCol w="3808588">
                  <a:extLst>
                    <a:ext uri="{9D8B030D-6E8A-4147-A177-3AD203B41FA5}">
                      <a16:colId xmlns:a16="http://schemas.microsoft.com/office/drawing/2014/main" val="370753336"/>
                    </a:ext>
                  </a:extLst>
                </a:gridCol>
              </a:tblGrid>
              <a:tr h="424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TreatmentCost</a:t>
                      </a:r>
                      <a:r>
                        <a:rPr lang="en-US" dirty="0"/>
                        <a:t> &lt;=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46164"/>
                  </a:ext>
                </a:extLst>
              </a:tr>
              <a:tr h="424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TotalAmount</a:t>
                      </a:r>
                      <a:r>
                        <a:rPr lang="en-US" dirty="0"/>
                        <a:t> &lt;=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90715"/>
                  </a:ext>
                </a:extLst>
              </a:tr>
              <a:tr h="424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Gender M/F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63974"/>
                  </a:ext>
                </a:extLst>
              </a:tr>
              <a:tr h="424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Extra Spaces in 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43626"/>
                  </a:ext>
                </a:extLst>
              </a:tr>
              <a:tr h="424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Missing 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596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15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69E2-1E66-DB23-CD2D-6B6AC9C7A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VALIDATION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B401-CF5B-55F1-CDC4-53525433A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8941" y="3429000"/>
            <a:ext cx="11214847" cy="2747962"/>
          </a:xfrm>
        </p:spPr>
        <p:txBody>
          <a:bodyPr/>
          <a:lstStyle/>
          <a:p>
            <a:r>
              <a:rPr lang="en-US" dirty="0"/>
              <a:t>Data loaded successfully</a:t>
            </a:r>
          </a:p>
          <a:p>
            <a:r>
              <a:rPr lang="en-US" dirty="0" err="1"/>
              <a:t>AdmissionID</a:t>
            </a:r>
            <a:r>
              <a:rPr lang="en-US" dirty="0"/>
              <a:t> 503 excluded due to rejected billing record</a:t>
            </a:r>
          </a:p>
          <a:p>
            <a:r>
              <a:rPr lang="en-US" dirty="0"/>
              <a:t>Gender values corrected</a:t>
            </a:r>
          </a:p>
          <a:p>
            <a:r>
              <a:rPr lang="en-US" dirty="0"/>
              <a:t>City values cleaned</a:t>
            </a:r>
          </a:p>
          <a:p>
            <a:r>
              <a:rPr lang="en-US" dirty="0" err="1"/>
              <a:t>FactAdmission</a:t>
            </a:r>
            <a:r>
              <a:rPr lang="en-US" dirty="0"/>
              <a:t> populated correctly</a:t>
            </a:r>
          </a:p>
          <a:p>
            <a:endParaRPr lang="en-US" dirty="0"/>
          </a:p>
        </p:txBody>
      </p:sp>
      <p:pic>
        <p:nvPicPr>
          <p:cNvPr id="6" name="Content Placeholder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9E4FF08C-FF45-D8C8-6989-5ADC81FC2B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8941" y="2007394"/>
            <a:ext cx="11308978" cy="1193800"/>
          </a:xfrm>
        </p:spPr>
      </p:pic>
    </p:spTree>
    <p:extLst>
      <p:ext uri="{BB962C8B-B14F-4D97-AF65-F5344CB8AC3E}">
        <p14:creationId xmlns:p14="http://schemas.microsoft.com/office/powerpoint/2010/main" val="262528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CC11-7CDA-F617-32AC-85746C952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7CE74-F65E-CFEE-D606-095B7239F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97269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346</Words>
  <Application>Microsoft Macintosh PowerPoint</Application>
  <PresentationFormat>Widescreen</PresentationFormat>
  <Paragraphs>58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Aharoni</vt:lpstr>
      <vt:lpstr>Aptos</vt:lpstr>
      <vt:lpstr>Arial</vt:lpstr>
      <vt:lpstr>Avenir Next LT Pro</vt:lpstr>
      <vt:lpstr>FadeVTI</vt:lpstr>
      <vt:lpstr>DATA WAREHOUSING ASSIGNMENT</vt:lpstr>
      <vt:lpstr>OVERVIEW</vt:lpstr>
      <vt:lpstr>OLTP DATABASE DESIGN</vt:lpstr>
      <vt:lpstr>OLAP STAR SCHEMA</vt:lpstr>
      <vt:lpstr>ETL PROCESS</vt:lpstr>
      <vt:lpstr>DATA QUALITY RULES</vt:lpstr>
      <vt:lpstr>VALIDATION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Rehaan</dc:creator>
  <cp:lastModifiedBy>Rehaan</cp:lastModifiedBy>
  <cp:revision>6</cp:revision>
  <dcterms:created xsi:type="dcterms:W3CDTF">2026-06-02T04:17:38Z</dcterms:created>
  <dcterms:modified xsi:type="dcterms:W3CDTF">2026-06-03T03:54:23Z</dcterms:modified>
</cp:coreProperties>
</file>